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974ab84c74e1f" /><Relationship Type="http://schemas.openxmlformats.org/officeDocument/2006/relationships/extended-properties" Target="/docProps/app.xml" Id="R90e89f28e9cd4499" /><Relationship Type="http://schemas.openxmlformats.org/officeDocument/2006/relationships/officeDocument" Target="/ppt/presentation.xml" Id="R3b389d299f9944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cfd78cbb154cd2"/>
  </p:sldMasterIdLst>
  <p:notesMasterIdLst>
    <p:notesMasterId xmlns:r="http://schemas.openxmlformats.org/officeDocument/2006/relationships" r:id="Rceacfa1624364c9e"/>
  </p:notesMasterIdLst>
  <p:sldIdLst>
    <p:sldId xmlns:r="http://schemas.openxmlformats.org/officeDocument/2006/relationships" id="256" r:id="R8cfaa349296349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ff813247a5434a" /><Relationship Type="http://schemas.openxmlformats.org/officeDocument/2006/relationships/slideMaster" Target="/ppt/slideMasters/slideMaster1.xml" Id="Rb0cfd78cbb154cd2" /><Relationship Type="http://schemas.openxmlformats.org/officeDocument/2006/relationships/notesMaster" Target="/ppt/notesMasters/notesMaster1.xml" Id="Rceacfa1624364c9e" /><Relationship Type="http://schemas.openxmlformats.org/officeDocument/2006/relationships/presProps" Target="/ppt/presProps.xml" Id="R5afd3c1cacde4cae" /><Relationship Type="http://schemas.openxmlformats.org/officeDocument/2006/relationships/tableStyles" Target="/ppt/tableStyles.xml" Id="Rd369f4c6aff44f7c" /><Relationship Type="http://schemas.openxmlformats.org/officeDocument/2006/relationships/slide" Target="/ppt/slides/slide1.xml" Id="R8cfaa3492963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740c9276cc4d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b6876ec6fa4092" /><Relationship Type="http://schemas.openxmlformats.org/officeDocument/2006/relationships/notesMaster" Target="/ppt/notesMasters/notesMaster1.xml" Id="R9a520326d6e1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28c9446d84a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ab7621b5b4d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93c38718846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f4b8bd8b74e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920683e8344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e341020bb4d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BC4917-7A07-4A41-AA20-F987CE784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A24471-4BE0-4200-B0ED-82E6CAC15D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F38943-C9EF-4D96-9E93-FA675B53F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C34C75-7365-46A3-9986-6D68B9253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F0BCA7-3DEB-4986-8C8D-7194ABE8D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6B2371-4A85-4002-987B-62EBF50E5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BBCD99-568B-4EE1-8EBF-6B0375F36B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A10E8B-DB78-4732-8F88-5A9344D081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47BFDC-B116-443E-9CDB-8C9670053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9E3E6F-24F1-4D8A-9479-5389AEBE9F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2d907166a84470" /><Relationship Type="http://schemas.openxmlformats.org/officeDocument/2006/relationships/slideLayout" Target="/ppt/slideLayouts/slideLayout1.xml" Id="R5fb38450b97245dc" /><Relationship Type="http://schemas.openxmlformats.org/officeDocument/2006/relationships/slideLayout" Target="/ppt/slideLayouts/slideLayout2.xml" Id="R0d667fa0ef5742d7" /><Relationship Type="http://schemas.openxmlformats.org/officeDocument/2006/relationships/slideLayout" Target="/ppt/slideLayouts/slideLayout3.xml" Id="Rfc401e7f89784dde" /><Relationship Type="http://schemas.openxmlformats.org/officeDocument/2006/relationships/slideLayout" Target="/ppt/slideLayouts/slideLayout4.xml" Id="Ra23d79a4577645b5" /><Relationship Type="http://schemas.openxmlformats.org/officeDocument/2006/relationships/slideLayout" Target="/ppt/slideLayouts/slideLayout5.xml" Id="R2077c4814b89491c" /><Relationship Type="http://schemas.openxmlformats.org/officeDocument/2006/relationships/slideLayout" Target="/ppt/slideLayouts/slideLayout6.xml" Id="R4fc948c1f7a846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b38450b97245dc"/>
    <p:sldLayoutId xmlns:r="http://schemas.openxmlformats.org/officeDocument/2006/relationships" id="2147483650" r:id="R0d667fa0ef5742d7"/>
    <p:sldLayoutId xmlns:r="http://schemas.openxmlformats.org/officeDocument/2006/relationships" id="2147483651" r:id="Rfc401e7f89784dde"/>
    <p:sldLayoutId xmlns:r="http://schemas.openxmlformats.org/officeDocument/2006/relationships" id="2147483652" r:id="Ra23d79a4577645b5"/>
    <p:sldLayoutId xmlns:r="http://schemas.openxmlformats.org/officeDocument/2006/relationships" id="2147483653" r:id="R2077c4814b89491c"/>
    <p:sldLayoutId xmlns:r="http://schemas.openxmlformats.org/officeDocument/2006/relationships" id="2147483654" r:id="R4fc948c1f7a846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efbe815e9f45d4" /><Relationship Type="http://schemas.openxmlformats.org/officeDocument/2006/relationships/chart" Target="/ppt/slides/charts/chart1.xml" Id="R18ba665084444d52" /><Relationship Type="http://schemas.openxmlformats.org/officeDocument/2006/relationships/notesSlide" Target="/ppt/notesSlides/notesSlide1.xml" Id="R7c5c071c2db748b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Importance</c:v>
          </c:tx>
          <c:spPr>
            <a:solidFill xmlns:a="http://schemas.openxmlformats.org/drawingml/2006/main">
              <a:srgbClr val="315F96"/>
            </a:solidFill>
          </c:spPr>
          <c:dPt>
            <c:idx val="12"/>
            <c:invertIfNegative val="0"/>
            <c:spPr>
              <a:solidFill xmlns:a="http://schemas.openxmlformats.org/drawingml/2006/main">
                <a:srgbClr val="C8102E"/>
              </a:solidFill>
            </c:spPr>
          </c:dPt>
          <c:cat>
            <c:strLit>
              <c:ptCount val="13"/>
              <c:pt idx="0">
                <c:v>trip_type</c:v>
              </c:pt>
              <c:pt idx="1">
                <c:v>sales_channel</c:v>
              </c:pt>
              <c:pt idx="2">
                <c:v>wants_preferred_seat</c:v>
              </c:pt>
              <c:pt idx="3">
                <c:v>wants_extra_baggage</c:v>
              </c:pt>
              <c:pt idx="4">
                <c:v>wants_in_flight_meals</c:v>
              </c:pt>
              <c:pt idx="5">
                <c:v>num_passengers</c:v>
              </c:pt>
              <c:pt idx="6">
                <c:v>flight_duration</c:v>
              </c:pt>
              <c:pt idx="7">
                <c:v>flight_day</c:v>
              </c:pt>
              <c:pt idx="8">
                <c:v>flight_hour</c:v>
              </c:pt>
              <c:pt idx="9">
                <c:v>length_of_stay</c:v>
              </c:pt>
              <c:pt idx="10">
                <c:v>purchase_lead</c:v>
              </c:pt>
              <c:pt idx="11">
                <c:v>booking_origin</c:v>
              </c:pt>
              <c:pt idx="12">
                <c:v>route</c:v>
              </c:pt>
            </c:strLit>
          </c:cat>
          <c:val>
            <c:numLit>
              <c:formatCode>General</c:formatCode>
              <c:ptCount val="13"/>
              <c:pt idx="0">
                <c:v>0.2589</c:v>
              </c:pt>
              <c:pt idx="1">
                <c:v>1.189</c:v>
              </c:pt>
              <c:pt idx="2">
                <c:v>1.5711</c:v>
              </c:pt>
              <c:pt idx="3">
                <c:v>1.7894</c:v>
              </c:pt>
              <c:pt idx="4">
                <c:v>1.9785000000000001</c:v>
              </c:pt>
              <c:pt idx="5">
                <c:v>4.0412</c:v>
              </c:pt>
              <c:pt idx="6">
                <c:v>4.2422</c:v>
              </c:pt>
              <c:pt idx="7">
                <c:v>7.334899999999999</c:v>
              </c:pt>
              <c:pt idx="8">
                <c:v>10.421999999999999</c:v>
              </c:pt>
              <c:pt idx="9">
                <c:v>10.43</c:v>
              </c:pt>
              <c:pt idx="10">
                <c:v>12.7739</c:v>
              </c:pt>
              <c:pt idx="11">
                <c:v>15.1031</c:v>
              </c:pt>
              <c:pt idx="12">
                <c:v>28.8657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526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1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47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5263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navy-header">
            <a:extLst xmlns:a="http://schemas.openxmlformats.org/drawingml/2006/main">
              <a:ext uri="{FF2B5EF4-FFF2-40B4-BE49-F238E27FC236}">
                <a16:creationId xmlns:a16="http://schemas.microsoft.com/office/drawing/2014/main" id="{921991B1-F3D0-40DD-9DF8-485B9B3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d-accent">
            <a:extLst xmlns:a="http://schemas.openxmlformats.org/drawingml/2006/main">
              <a:ext uri="{FF2B5EF4-FFF2-40B4-BE49-F238E27FC236}">
                <a16:creationId xmlns:a16="http://schemas.microsoft.com/office/drawing/2014/main" id="{AC29038D-2731-472C-8A33-08AA7F2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A38C2-E555-49D2-923F-1116FE85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Holiday booking prediction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3E7883-2E6C-45BC-9EC0-59361AC7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E7EDF5"/>
                </a:solidFill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E7EDF5"/>
                </a:solidFill>
              </a:defRPr>
            </a:pPr>
            <a:r>
              <a:rPr sz="1650">
                <a:solidFill>
                  <a:srgbClr val="E7EDF5"/>
                </a:solidFill>
              </a:rPr>
              <a:t>Random Forest | 50,000 customer records | 5-fold cross-validation</a:t>
            </a:r>
          </a:p>
        </p:txBody>
      </p:sp>
      <p:sp>
        <p:nvSpPr>
          <p:cNvPr id="5" name="main-finding">
            <a:extLst xmlns:a="http://schemas.openxmlformats.org/drawingml/2006/main">
              <a:ext uri="{FF2B5EF4-FFF2-40B4-BE49-F238E27FC236}">
                <a16:creationId xmlns:a16="http://schemas.microsoft.com/office/drawing/2014/main" id="{7DE71581-1A53-40AC-98BC-3241190C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71F3D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71F3D"/>
                </a:solidFill>
              </a:defRPr>
            </a:pPr>
            <a:r>
              <a:rPr sz="2100" b="1">
                <a:solidFill>
                  <a:srgbClr val="071F3D"/>
                </a:solidFill>
              </a:rPr>
              <a:t>At the current threshold, the model finds only 13% of actual bookers</a:t>
            </a:r>
          </a:p>
        </p:txBody>
      </p:sp>
      <p:sp>
        <p:nvSpPr>
          <p:cNvPr id="6" name="main-finding-detail">
            <a:extLst xmlns:a="http://schemas.openxmlformats.org/drawingml/2006/main">
              <a:ext uri="{FF2B5EF4-FFF2-40B4-BE49-F238E27FC236}">
                <a16:creationId xmlns:a16="http://schemas.microsoft.com/office/drawing/2014/main" id="{97301EF6-93B2-42E4-A95D-CCC9D2F2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26477"/>
                </a:solidFill>
              </a:defRPr>
            </a:pPr>
            <a:r>
              <a:rPr sz="1500">
                <a:solidFill>
                  <a:srgbClr val="526477"/>
                </a:solidFill>
              </a:rPr>
              <a:t>It can rank likely bookers to some extent, but misses most completed bookings.</a:t>
            </a:r>
          </a:p>
        </p:txBody>
      </p:sp>
      <p:sp>
        <p:nvSpPr>
          <p:cNvPr id="7" name="cv-heading">
            <a:extLst xmlns:a="http://schemas.openxmlformats.org/drawingml/2006/main">
              <a:ext uri="{FF2B5EF4-FFF2-40B4-BE49-F238E27FC236}">
                <a16:creationId xmlns:a16="http://schemas.microsoft.com/office/drawing/2014/main" id="{4E392740-E6D6-4A60-84B8-271F2B1B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071F3D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71F3D"/>
                </a:solidFill>
              </a:defRPr>
            </a:pPr>
            <a:r>
              <a:rPr sz="1725" b="1">
                <a:solidFill>
                  <a:srgbClr val="071F3D"/>
                </a:solidFill>
              </a:rPr>
              <a:t>5-fold CV averages</a:t>
            </a:r>
          </a:p>
        </p:txBody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95AD4548-1FD9-48AF-AC9F-81AE203F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5263B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63B"/>
                </a:solidFill>
              </a:defRPr>
            </a:pPr>
            <a:r>
              <a:rPr sz="2100" b="1">
                <a:solidFill>
                  <a:srgbClr val="15263B"/>
                </a:solidFill>
              </a:rPr>
              <a:t>85.2%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15ABFE9E-1B53-41BA-ABF0-C7B65849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289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5263B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5263B"/>
                </a:solidFill>
              </a:defRPr>
            </a:pPr>
            <a:r>
              <a:rPr sz="1425" b="0">
                <a:solidFill>
                  <a:srgbClr val="15263B"/>
                </a:solidFill>
              </a:rPr>
              <a:t>Accuracy</a:t>
            </a:r>
          </a:p>
        </p:txBody>
      </p:sp>
      <p:sp>
        <p:nvSpPr>
          <p:cNvPr id="10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4842991D-BE06-402E-92C6-728A80AC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57F7692B-D48D-4DA0-A4B8-7EE38B9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5263B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63B"/>
                </a:solidFill>
              </a:defRPr>
            </a:pPr>
            <a:r>
              <a:rPr sz="2100" b="1">
                <a:solidFill>
                  <a:srgbClr val="15263B"/>
                </a:solidFill>
              </a:rPr>
              <a:t>51.7%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E0197D4A-E64B-4336-8394-E6BF401A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242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5263B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5263B"/>
                </a:solidFill>
              </a:defRPr>
            </a:pPr>
            <a:r>
              <a:rPr sz="1425" b="0">
                <a:solidFill>
                  <a:srgbClr val="15263B"/>
                </a:solidFill>
              </a:rPr>
              <a:t>Precision</a:t>
            </a:r>
          </a:p>
        </p:txBody>
      </p:sp>
      <p:sp>
        <p:nvSpPr>
          <p:cNvPr id="13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BF79CCEC-70EE-43D4-A69F-43133562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EB1D70BB-A943-40A9-BFEA-5AAF6FF5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C8102E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C8102E"/>
                </a:solidFill>
              </a:defRPr>
            </a:pPr>
            <a:r>
              <a:rPr sz="2100" b="1">
                <a:solidFill>
                  <a:srgbClr val="C8102E"/>
                </a:solidFill>
              </a:rPr>
              <a:t>12.6%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0AFF79A-D56A-4023-84C0-728FC2F1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C8102E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8102E"/>
                </a:solidFill>
              </a:defRPr>
            </a:pPr>
            <a:r>
              <a:rPr sz="1425" b="1">
                <a:solidFill>
                  <a:srgbClr val="C8102E"/>
                </a:solidFill>
              </a:rPr>
              <a:t>Recall — actual bookings found</a:t>
            </a:r>
          </a:p>
        </p:txBody>
      </p:sp>
      <p:sp>
        <p:nvSpPr>
          <p:cNvPr id="16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EA5A3A36-3A76-4E06-95B4-FA8CC92E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B69E0A3D-3CF0-41DD-914B-CDB95C96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5263B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63B"/>
                </a:solidFill>
              </a:defRPr>
            </a:pPr>
            <a:r>
              <a:rPr sz="2100" b="1">
                <a:solidFill>
                  <a:srgbClr val="15263B"/>
                </a:solidFill>
              </a:rPr>
              <a:t>20.2%</a:t>
            </a:r>
          </a:p>
        </p:txBody>
      </p:sp>
      <p:sp>
        <p:nvSpPr>
          <p:cNvPr id="18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D0BB1BB3-C259-44C4-953E-80DCEFA1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5263B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5263B"/>
                </a:solidFill>
              </a:defRPr>
            </a:pPr>
            <a:r>
              <a:rPr sz="1425" b="0">
                <a:solidFill>
                  <a:srgbClr val="15263B"/>
                </a:solidFill>
              </a:rPr>
              <a:t>F1 score</a:t>
            </a:r>
          </a:p>
        </p:txBody>
      </p:sp>
      <p:sp>
        <p:nvSpPr>
          <p:cNvPr id="19" name="metric-rule-3">
            <a:extLst xmlns:a="http://schemas.openxmlformats.org/drawingml/2006/main">
              <a:ext uri="{FF2B5EF4-FFF2-40B4-BE49-F238E27FC236}">
                <a16:creationId xmlns:a16="http://schemas.microsoft.com/office/drawing/2014/main" id="{9FE1A486-3A52-4278-9B4A-1E9AE692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ric-value-4">
            <a:extLst xmlns:a="http://schemas.openxmlformats.org/drawingml/2006/main">
              <a:ext uri="{FF2B5EF4-FFF2-40B4-BE49-F238E27FC236}">
                <a16:creationId xmlns:a16="http://schemas.microsoft.com/office/drawing/2014/main" id="{EE610A6E-7297-4FD6-B429-D0AC423E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5263B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63B"/>
                </a:solidFill>
              </a:defRPr>
            </a:pPr>
            <a:r>
              <a:rPr sz="2100" b="1">
                <a:solidFill>
                  <a:srgbClr val="15263B"/>
                </a:solidFill>
              </a:rPr>
              <a:t>77.7%</a:t>
            </a:r>
          </a:p>
        </p:txBody>
      </p:sp>
      <p:sp>
        <p:nvSpPr>
          <p:cNvPr id="21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C5E71D60-A1D0-4821-875F-11FA909F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01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5263B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5263B"/>
                </a:solidFill>
              </a:defRPr>
            </a:pPr>
            <a:r>
              <a:rPr sz="1425" b="0">
                <a:solidFill>
                  <a:srgbClr val="15263B"/>
                </a:solidFill>
              </a:rPr>
              <a:t>ROC-AUC</a:t>
            </a:r>
          </a:p>
        </p:txBody>
      </p:sp>
      <p:sp>
        <p:nvSpPr>
          <p:cNvPr id="22" name="importance-heading">
            <a:extLst xmlns:a="http://schemas.openxmlformats.org/drawingml/2006/main">
              <a:ext uri="{FF2B5EF4-FFF2-40B4-BE49-F238E27FC236}">
                <a16:creationId xmlns:a16="http://schemas.microsoft.com/office/drawing/2014/main" id="{CC4ED9DB-BA28-48C0-B7F4-3B6E4FDD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071F3D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71F3D"/>
                </a:solidFill>
              </a:defRPr>
            </a:pPr>
            <a:r>
              <a:rPr sz="1725" b="1">
                <a:solidFill>
                  <a:srgbClr val="071F3D"/>
                </a:solidFill>
              </a:rPr>
              <a:t>Feature importance by original input (%)</a:t>
            </a:r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CA92C0B7-1D2F-480F-8649-13105900208E}"/>
              </a:ext>
            </a:extLst>
          </p:cNvPr>
          <p:cNvGraphicFramePr/>
          <p:nvPr/>
        </p:nvGraphicFramePr>
        <p:xfrm>
          <a:off xmlns:a="http://schemas.openxmlformats.org/drawingml/2006/main" x="4810125" y="2400300"/>
          <a:ext xmlns:a="http://schemas.openxmlformats.org/drawingml/2006/main" cx="6953250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ba665084444d52"/>
          </a:graphicData>
        </a:graphic>
      </p:graphicFrame>
      <p:sp>
        <p:nvSpPr>
          <p:cNvPr id="2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E8C49E89-0553-42B6-AF2C-D276A3AC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FB306DEE-6A0F-4393-9477-3A6465CD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071F3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71F3D"/>
                </a:solidFill>
              </a:defRPr>
            </a:pPr>
            <a:r>
              <a:rPr sz="1575" b="1">
                <a:solidFill>
                  <a:srgbClr val="071F3D"/>
                </a:solidFill>
              </a:rPr>
              <a:t>Next: improve recall before using the model to target likely bookers.</a:t>
            </a:r>
          </a:p>
        </p:txBody>
      </p:sp>
      <p:sp>
        <p:nvSpPr>
          <p:cNvPr id="26" name="method-note">
            <a:extLst xmlns:a="http://schemas.openxmlformats.org/drawingml/2006/main">
              <a:ext uri="{FF2B5EF4-FFF2-40B4-BE49-F238E27FC236}">
                <a16:creationId xmlns:a16="http://schemas.microsoft.com/office/drawing/2014/main" id="{2245E20B-D635-4853-8F10-C341C6AB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526477"/>
                </a:solidFill>
              </a:defRPr>
            </a:pPr>
            <a:r>
              <a:rPr sz="1125">
                <a:solidFill>
                  <a:srgbClr val="526477"/>
                </a:solidFill>
              </a:rPr>
              <a:t>Booking rate: 15.0%. Importance shows model reliance, not cause; route has 799 unique values.</a:t>
            </a:r>
          </a:p>
        </p:txBody>
      </p:sp>
    </p:spTree>
    <p:extLst>
      <p:ext uri="{BB962C8B-B14F-4D97-AF65-F5344CB8AC3E}">
        <p14:creationId xmlns:p14="http://schemas.microsoft.com/office/powerpoint/2010/main" val="1170452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2026-10-10T18:53:46.3540000Z</dcterms:created>
  <dcterms:modified xsi:type="dcterms:W3CDTF">2026-10-10T18:53:46.3540000Z</dcterms:modified>
</coreProperties>
</file>